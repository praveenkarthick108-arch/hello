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457200"/>
            <a:ext cx="2011680" cy="2011680"/>
          </a:xfrm>
          <a:prstGeom prst="ellipse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0" y="2011680"/>
            <a:ext cx="1188720" cy="1188720"/>
          </a:xfrm>
          <a:prstGeom prst="ellipse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61120" y="5303520"/>
            <a:ext cx="1371600" cy="1371600"/>
          </a:xfrm>
          <a:prstGeom prst="ellipse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AI Trip Planner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D4F0"/>
                </a:solidFill>
              </a:rPr>
              <a:t>Multi-Agent AI System  |  LangGraph  |  GPT-4o-mini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154680"/>
            <a:ext cx="3474720" cy="457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337560"/>
            <a:ext cx="7772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E5FF"/>
                </a:solidFill>
              </a:rPr>
              <a:t>  11 specialised AI agents working in parallel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13048"/>
            <a:ext cx="7772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E5FF"/>
                </a:solidFill>
              </a:rPr>
              <a:t>  3-layer guardrails — input + output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88536"/>
            <a:ext cx="7772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E5FF"/>
                </a:solidFill>
              </a:rPr>
              <a:t>  RAGAS + DeepEval quality evaluation suite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764024"/>
            <a:ext cx="7772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E5FF"/>
                </a:solidFill>
              </a:rPr>
              <a:t>  Natural language in  -&gt;  Professional PDF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80760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9AC0"/>
                </a:solidFill>
              </a:rPr>
              <a:t>LangGraph  ·  LangChain  ·  OpenAI  ·  Tavily  ·  ChromaDB  ·  RAGAS  ·  DeepEval  ·  FastAPI  · 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Problem &amp;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4F0"/>
                </a:solidFill>
              </a:rPr>
              <a:t>What gap does this system fill?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78992"/>
            <a:ext cx="5394960" cy="5248656"/>
          </a:xfrm>
          <a:prstGeom prst="rect">
            <a:avLst/>
          </a:prstGeom>
          <a:solidFill>
            <a:srgbClr val="FFFFFF"/>
          </a:solidFill>
          <a:ln w="254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078992"/>
            <a:ext cx="5394960" cy="43891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78992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  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1609344"/>
            <a:ext cx="5074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0000"/>
                </a:solidFill>
              </a:rPr>
              <a:t>  x  Hours of research across multiple sites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267712"/>
            <a:ext cx="5074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0000"/>
                </a:solidFill>
              </a:rPr>
              <a:t>  x  No single tool: flights + hotels + weather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2926080"/>
            <a:ext cx="5074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0000"/>
                </a:solidFill>
              </a:rPr>
              <a:t>  x  Manual budget tracking — error-prone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3584448"/>
            <a:ext cx="5074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0000"/>
                </a:solidFill>
              </a:rPr>
              <a:t>  x  Generic plans — no personalisation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4242816"/>
            <a:ext cx="5074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0000"/>
                </a:solidFill>
              </a:rPr>
              <a:t>  x  No quality check before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4901183"/>
            <a:ext cx="5074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0000"/>
                </a:solidFill>
              </a:rPr>
              <a:t>  x  No safety net for harmful inputs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65392" y="1078992"/>
            <a:ext cx="5394960" cy="5248656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5392" y="1078992"/>
            <a:ext cx="5394960" cy="438912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1078992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  The 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9983" y="1609344"/>
            <a:ext cx="5074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050"/>
                </a:solidFill>
              </a:rPr>
              <a:t>  v  One natural-language request does it 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9983" y="2267712"/>
            <a:ext cx="5074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050"/>
                </a:solidFill>
              </a:rPr>
              <a:t>  v  11 agents run in parallel for speed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9983" y="2926080"/>
            <a:ext cx="5074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050"/>
                </a:solidFill>
              </a:rPr>
              <a:t>  v  Deterministic budget math — always correct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3" y="3584448"/>
            <a:ext cx="5074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050"/>
                </a:solidFill>
              </a:rPr>
              <a:t>  v  Semantic memory of past trips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9983" y="4242816"/>
            <a:ext cx="5074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050"/>
                </a:solidFill>
              </a:rPr>
              <a:t>  v  AI quality gate reviews the plan 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3" y="4901183"/>
            <a:ext cx="5074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050"/>
                </a:solidFill>
              </a:rPr>
              <a:t>  v  Guardrails block harmful / off-topic 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41848" y="3429000"/>
            <a:ext cx="7680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E6DA4"/>
                </a:solidFill>
              </a:rPr>
              <a:t>-&gt;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4F0"/>
                </a:solidFill>
              </a:rPr>
              <a:t>11 agents · 3-layer guardrails · evaluation suite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78992"/>
            <a:ext cx="1828800" cy="62179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078992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Streamlit UI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1078992"/>
            <a:ext cx="1645920" cy="62179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078992"/>
            <a:ext cx="16459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078992"/>
            <a:ext cx="2331720" cy="621792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1078992"/>
            <a:ext cx="2331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Orchestrator
(LangGraph)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20840" y="1078992"/>
            <a:ext cx="1737360" cy="621792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078992"/>
            <a:ext cx="1737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SQLite 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078992"/>
            <a:ext cx="2057400" cy="621792"/>
          </a:xfrm>
          <a:prstGeom prst="rect">
            <a:avLst/>
          </a:prstGeom>
          <a:solidFill>
            <a:srgbClr val="008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078992"/>
            <a:ext cx="2057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ChromaDB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1170432"/>
            <a:ext cx="274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C5E"/>
                </a:solidFill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1170432"/>
            <a:ext cx="274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C5E"/>
                </a:solidFill>
              </a:rPr>
              <a:t>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170432"/>
            <a:ext cx="274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C5E"/>
                </a:solidFill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170432"/>
            <a:ext cx="274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3C5E"/>
                </a:solidFill>
              </a:rP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1755648"/>
            <a:ext cx="3017520" cy="23774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1755648"/>
            <a:ext cx="3017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INPUT GUARDRAILS (3 layers)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1755648"/>
            <a:ext cx="3044952" cy="237744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1755648"/>
            <a:ext cx="3044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EVAL SUITE (basic+RAGAS+DeepEval)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1737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6DA4"/>
                </a:solidFill>
              </a:rPr>
              <a:t>|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208483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</a:rPr>
              <a:t>Sequential: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2359152"/>
            <a:ext cx="1828800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235915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Guardrail
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2487168"/>
            <a:ext cx="137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6DA4"/>
                </a:solidFill>
              </a:rPr>
              <a:t>&gt;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2359152"/>
            <a:ext cx="1828800" cy="65836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94560" y="235915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User Input
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2487168"/>
            <a:ext cx="137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6DA4"/>
                </a:solidFill>
              </a:rPr>
              <a:t>&gt;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0520" y="2359152"/>
            <a:ext cx="1828800" cy="65836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60520" y="2359152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Memory
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2084831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</a:rPr>
              <a:t>Parallel: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2286000"/>
            <a:ext cx="5742432" cy="182880"/>
          </a:xfrm>
          <a:prstGeom prst="rect">
            <a:avLst/>
          </a:prstGeom>
          <a:solidFill>
            <a:srgbClr val="E0F0FF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2286000"/>
            <a:ext cx="56509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C5E"/>
                </a:solidFill>
              </a:rPr>
              <a:t>  All 4 agents fire simultaneously via Send()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2487168"/>
            <a:ext cx="1335024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89320" y="2487168"/>
            <a:ext cx="13350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Weather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34071" y="2487168"/>
            <a:ext cx="1335024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34071" y="2487168"/>
            <a:ext cx="13350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Transport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78824" y="2487168"/>
            <a:ext cx="1335024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78824" y="2487168"/>
            <a:ext cx="13350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Hotel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23576" y="2487168"/>
            <a:ext cx="1335024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23576" y="2487168"/>
            <a:ext cx="13350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Places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" y="314553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</a:rPr>
              <a:t>Then sequential: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3419856"/>
            <a:ext cx="1828800" cy="658368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600" y="3419856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Budget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3566160"/>
            <a:ext cx="128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6DA4"/>
                </a:solidFill>
              </a:rPr>
              <a:t>&gt;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85416" y="3419856"/>
            <a:ext cx="1828800" cy="658368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85416" y="3419856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Itinerary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14216" y="3566160"/>
            <a:ext cx="128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6DA4"/>
                </a:solidFill>
              </a:rPr>
              <a:t>&gt;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42232" y="3419856"/>
            <a:ext cx="1828800" cy="658368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42232" y="3419856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71032" y="3566160"/>
            <a:ext cx="128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6DA4"/>
                </a:solidFill>
              </a:rPr>
              <a:t>&gt;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99048" y="3419856"/>
            <a:ext cx="1828800" cy="658368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99048" y="3419856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PDF Gen.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27848" y="3566160"/>
            <a:ext cx="128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6DA4"/>
                </a:solidFill>
              </a:rPr>
              <a:t>&gt;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055864" y="3419856"/>
            <a:ext cx="1828800" cy="6583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55864" y="3419856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Output
Guardrails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84664" y="3566160"/>
            <a:ext cx="1280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6DA4"/>
                </a:solidFill>
              </a:rPr>
              <a:t>&gt;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012680" y="3419856"/>
            <a:ext cx="1828800" cy="658368"/>
          </a:xfrm>
          <a:prstGeom prst="rect">
            <a:avLst/>
          </a:prstGeom>
          <a:solidFill>
            <a:srgbClr val="008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12680" y="3419856"/>
            <a:ext cx="1828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Eval
Suite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" y="4206240"/>
            <a:ext cx="11731752" cy="256032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0040" y="4215384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LangGraph  |  GPT-4o-mini  |  Tavily  |  ChromaDB  |  SQLite  |  RAGAS  |  DeepEval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4572000"/>
            <a:ext cx="2240280" cy="17373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28600" y="461772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28600" y="5440680"/>
            <a:ext cx="2240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AI Agents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69464" y="4572000"/>
            <a:ext cx="2240280" cy="17373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569464" y="461772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569464" y="5440680"/>
            <a:ext cx="2240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Guard. Layers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910328" y="4572000"/>
            <a:ext cx="2240280" cy="1737360"/>
          </a:xfrm>
          <a:prstGeom prst="rect">
            <a:avLst/>
          </a:prstGeom>
          <a:solidFill>
            <a:srgbClr val="008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910328" y="461772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10328" y="5440680"/>
            <a:ext cx="2240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Eval Suites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51192" y="4572000"/>
            <a:ext cx="2240280" cy="173736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251192" y="461772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76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51192" y="5440680"/>
            <a:ext cx="2240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Tests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592056" y="4572000"/>
            <a:ext cx="2240280" cy="173736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592056" y="461772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~90s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592056" y="5440680"/>
            <a:ext cx="22402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Plan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8-Phase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4F0"/>
                </a:solidFill>
              </a:rPr>
              <a:t>Every trip flows through these phases — orchestrator decides what runs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51560"/>
            <a:ext cx="283464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051560"/>
            <a:ext cx="493776" cy="15727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51560"/>
            <a:ext cx="49377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161288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</a:rPr>
              <a:t>Guardrail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563624"/>
            <a:ext cx="217627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Block harmful/off-topic input before any LLM 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384" y="1600200"/>
            <a:ext cx="121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6DA4"/>
                </a:solidFill>
              </a:rP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94304" y="1051560"/>
            <a:ext cx="283464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94304" y="1051560"/>
            <a:ext cx="493776" cy="157276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94304" y="1051560"/>
            <a:ext cx="49377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1232" y="1161288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</a:rPr>
              <a:t>User Input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1232" y="1563624"/>
            <a:ext cx="217627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Parse NL request -&gt; TripPreferences (Pydantic)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8088" y="1600200"/>
            <a:ext cx="121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6DA4"/>
                </a:solidFill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0008" y="1051560"/>
            <a:ext cx="283464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60008" y="1051560"/>
            <a:ext cx="493776" cy="1572768"/>
          </a:xfrm>
          <a:prstGeom prst="rect">
            <a:avLst/>
          </a:prstGeom>
          <a:solidFill>
            <a:srgbClr val="008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0008" y="1051560"/>
            <a:ext cx="49377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6936" y="1161288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</a:rPr>
              <a:t>Memory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6936" y="1563624"/>
            <a:ext cx="217627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ChromaDB semantic search -&gt; personalise from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3792" y="1600200"/>
            <a:ext cx="121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6DA4"/>
                </a:solidFill>
              </a:rP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5712" y="1051560"/>
            <a:ext cx="283464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25712" y="1051560"/>
            <a:ext cx="493776" cy="157276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5712" y="1051560"/>
            <a:ext cx="49377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1161288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</a:rPr>
              <a:t>Research (Parallel)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1563624"/>
            <a:ext cx="217627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Weather + Transport + Hotel + Places — all at once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2752344"/>
            <a:ext cx="283464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2752344"/>
            <a:ext cx="493776" cy="1572768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" y="2752344"/>
            <a:ext cx="49377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" y="2862072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</a:rPr>
              <a:t>Budget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3264408"/>
            <a:ext cx="217627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Deterministic Python math — zero LLM calls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72384" y="3300984"/>
            <a:ext cx="121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6DA4"/>
                </a:solidFill>
              </a:rPr>
              <a:t>&gt;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94304" y="2752344"/>
            <a:ext cx="283464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94304" y="2752344"/>
            <a:ext cx="493776" cy="1572768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94304" y="2752344"/>
            <a:ext cx="49377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61232" y="2862072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</a:rPr>
              <a:t>Itinerary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61232" y="3264408"/>
            <a:ext cx="217627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GPT-4o-mini builds day-by-day schedule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8088" y="3300984"/>
            <a:ext cx="121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6DA4"/>
                </a:solidFill>
              </a:rPr>
              <a:t>&gt;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60008" y="2752344"/>
            <a:ext cx="283464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60008" y="2752344"/>
            <a:ext cx="493776" cy="1572768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60008" y="2752344"/>
            <a:ext cx="49377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6936" y="2862072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</a:rPr>
              <a:t>Final Review 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6936" y="3264408"/>
            <a:ext cx="217627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LLM QA gate — detects conflicts, triggers retries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3792" y="3300984"/>
            <a:ext cx="1219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6DA4"/>
                </a:solidFill>
              </a:rPr>
              <a:t>&gt;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25712" y="2752344"/>
            <a:ext cx="2834640" cy="1572768"/>
          </a:xfrm>
          <a:prstGeom prst="rect">
            <a:avLst/>
          </a:prstGeom>
          <a:solidFill>
            <a:srgbClr val="FFFFFF"/>
          </a:solidFill>
          <a:ln w="2540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25712" y="2752344"/>
            <a:ext cx="493776" cy="1572768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25712" y="2752344"/>
            <a:ext cx="493776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2862072"/>
            <a:ext cx="2176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</a:rPr>
              <a:t>PDF Generator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3264408"/>
            <a:ext cx="217627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ReportLab 8-section report + store to ChromaDB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0" y="6492240"/>
            <a:ext cx="1207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Orchestrator is pure Python if/else — zero LLM calls — runs after every agent node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Input Guardrails  —  3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4F0"/>
                </a:solidFill>
              </a:rPr>
              <a:t>src/guardrails.py  |  Runs before any LLM call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51560"/>
            <a:ext cx="3758184" cy="5276088"/>
          </a:xfrm>
          <a:prstGeom prst="rect">
            <a:avLst/>
          </a:prstGeom>
          <a:solidFill>
            <a:srgbClr val="FFFFFF"/>
          </a:solidFill>
          <a:ln w="254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051560"/>
            <a:ext cx="3758184" cy="7315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" y="1088136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Layer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1453895"/>
            <a:ext cx="3557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Deterministic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1892807"/>
            <a:ext cx="348386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Input length: 10–2,000 characters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2624328"/>
            <a:ext cx="348386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Must contain 3+ readable alpha chars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3355848"/>
            <a:ext cx="348386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Dates: not in past, end &gt; start, max 60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4087368"/>
            <a:ext cx="348386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Budget $50–$500k   |   Travelers 1–20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4818888"/>
            <a:ext cx="348386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Numeric-only destination blocked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" y="5550408"/>
            <a:ext cx="348386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Zero LLM calls — always fast &amp; free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01084" y="1051560"/>
            <a:ext cx="3758184" cy="5276088"/>
          </a:xfrm>
          <a:prstGeom prst="rect">
            <a:avLst/>
          </a:prstGeom>
          <a:solidFill>
            <a:srgbClr val="FFFFFF"/>
          </a:solidFill>
          <a:ln w="2540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01084" y="1051560"/>
            <a:ext cx="3758184" cy="73152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29100" y="1088136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Layer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9100" y="1453895"/>
            <a:ext cx="3557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LLM Safety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5676" y="1892807"/>
            <a:ext cx="348386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Is content safe? (no violence, illegal acts)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5676" y="2624328"/>
            <a:ext cx="348386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Is it travel-related? (lenient — vague OK)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65676" y="3355848"/>
            <a:ext cx="348386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Prompt injection? (ignore-instructions, DAN…)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65676" y="4087368"/>
            <a:ext cx="348386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Severity:  pass  /  warn  /  block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5676" y="4818888"/>
            <a:ext cx="348386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Fail-open: LLM error = pass with warn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5676" y="5550408"/>
            <a:ext cx="348386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Input truncated to 600 chars for speed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73568" y="1051560"/>
            <a:ext cx="3758184" cy="5276088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73568" y="1051560"/>
            <a:ext cx="3758184" cy="731520"/>
          </a:xfrm>
          <a:prstGeom prst="rect">
            <a:avLst/>
          </a:prstGeom>
          <a:solidFill>
            <a:srgbClr val="008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01584" y="1088136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Layer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01584" y="1453895"/>
            <a:ext cx="3557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PII Detection &amp; Masking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1892807"/>
            <a:ext cx="348386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Detects: email, phone, SSN, credit card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2624328"/>
            <a:ext cx="348386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Also: passport number, Aadhaar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355848"/>
            <a:ext cx="348386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Masks with tokens: [PII_EMAIL_1]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087368"/>
            <a:ext cx="348386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Restores original values after LLM parsing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818888"/>
            <a:ext cx="348386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sanitize_for_storage() before any DB write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5550408"/>
            <a:ext cx="348386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Regex-based — no LLM needed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0" y="6492240"/>
            <a:ext cx="1207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If ANY layer blocks -&gt; request rejected immediately. Blocked = zero LLM cost incurred.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Output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4F0"/>
                </a:solidFill>
              </a:rPr>
              <a:t>src/output_guardrails.py  |  Validates what agents return before downstream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042415"/>
            <a:ext cx="117317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</a:rPr>
              <a:t>6 post-generation validators — run after each agent writes to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389888"/>
            <a:ext cx="5742432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389888"/>
            <a:ext cx="5742432" cy="3657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" y="1435608"/>
            <a:ext cx="5522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validate_transport_output()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" y="1847088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Has outbound options?  |  Cost in range?  |  Not over total budget?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89888"/>
            <a:ext cx="5742432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89888"/>
            <a:ext cx="5742432" cy="36576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5936" y="1435608"/>
            <a:ext cx="5522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validate_hotel_output()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1847088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Has options?  |  Cost &lt; 80% of budget?  |  Stars rating 1–6?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889504"/>
            <a:ext cx="5742432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2889504"/>
            <a:ext cx="5742432" cy="365760"/>
          </a:xfrm>
          <a:prstGeom prst="rect">
            <a:avLst/>
          </a:prstGeom>
          <a:solidFill>
            <a:srgbClr val="008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" y="2935224"/>
            <a:ext cx="5522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validate_places_output()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" y="3346704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Enough attractions for trip length?  |  2+ restaurants?  |  Indoor options present?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889504"/>
            <a:ext cx="5742432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889504"/>
            <a:ext cx="5742432" cy="3657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2935224"/>
            <a:ext cx="5522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validate_weather_output()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3346704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Summary present?  |  Severe weather -&gt; flags for indoor-focused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4389120"/>
            <a:ext cx="5742432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4389120"/>
            <a:ext cx="5742432" cy="36576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" y="4434840"/>
            <a:ext cx="5522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validate_itinerary_output()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" y="4846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No duplicate dates  |  All dates within trip range  |  No suspiciously short activities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389120"/>
            <a:ext cx="5742432" cy="1389888"/>
          </a:xfrm>
          <a:prstGeom prst="rect">
            <a:avLst/>
          </a:prstGeom>
          <a:solidFill>
            <a:srgbClr val="FFFFFF"/>
          </a:solidFill>
          <a:ln w="1905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389120"/>
            <a:ext cx="5742432" cy="365760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5936" y="4434840"/>
            <a:ext cx="5522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validate_budget_output()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4846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Components sum = total_spent (within 5%)  |  No negative costs  |  Not 10%+ over budget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5632704"/>
            <a:ext cx="11731752" cy="329184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" y="5650992"/>
            <a:ext cx="1156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agent_output_guardrails.run_full_output_check(state)  —  runs all 6 checks in one call  -&gt;  {check_name: result}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0" y="6492240"/>
            <a:ext cx="1207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Severity: pass = ok  |  warn = flagged but continues  |  block = retries agent.  Mirrors input guardrail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4F0"/>
                </a:solidFill>
              </a:rPr>
              <a:t>Every layer of the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51560"/>
            <a:ext cx="3758184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051560"/>
            <a:ext cx="3758184" cy="40233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" y="1115568"/>
            <a:ext cx="3557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Orchestration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" y="1545336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LangGraph — StateGraph, conditional edges, Send()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" y="2148840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LangChain — LLM abstractions &amp; prompt templates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" y="2752344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Async / Await throughout for concurrency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01084" y="1051560"/>
            <a:ext cx="3758184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01084" y="1051560"/>
            <a:ext cx="3758184" cy="402336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29100" y="1115568"/>
            <a:ext cx="3557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&amp;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7388" y="1545336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OpenAI GPT-4o-mini — all LLM tasks (temp 0–0.3)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47388" y="2148840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.with_structured_output() — typed JSON from 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7388" y="2752344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Tavily API — real-time web search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73568" y="1051560"/>
            <a:ext cx="3758184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73568" y="1051560"/>
            <a:ext cx="3758184" cy="402336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1584" y="1115568"/>
            <a:ext cx="3557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Memory &amp; 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2" y="1545336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ChromaDB — vector DB for past trip memory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2148840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SQLite + SQLAlchemy — async session tracking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2" y="2752344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text-embedding-3-small — trip embeddings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557016"/>
            <a:ext cx="3758184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3557016"/>
            <a:ext cx="3758184" cy="40233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" y="3621024"/>
            <a:ext cx="3557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Guardrails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4" y="4050791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3-layer input: rules + LLM safety + PII masking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4" y="4654296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6-check output: per-agent post-gen 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" y="5257800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Regex PII detection — zero extra LLM calls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01084" y="3557016"/>
            <a:ext cx="3758184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01084" y="3557016"/>
            <a:ext cx="3758184" cy="402336"/>
          </a:xfrm>
          <a:prstGeom prst="rect">
            <a:avLst/>
          </a:prstGeom>
          <a:solidFill>
            <a:srgbClr val="008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29100" y="3621024"/>
            <a:ext cx="3557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7388" y="4050791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RAGAS — Faithfulness + Answer Relevancy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7388" y="4654296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DeepEval — Relevancy, Faithfulness, Hallucination, GEval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7388" y="5257800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Basic Evals — 7 deterministic metrics, 76 tests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73568" y="3557016"/>
            <a:ext cx="3758184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73568" y="3557016"/>
            <a:ext cx="3758184" cy="402336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01584" y="3621024"/>
            <a:ext cx="35570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Output &amp;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9872" y="4050791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ReportLab — 8-section professional PDF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19872" y="4654296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FastAPI — async REST API (5 endpoints)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9872" y="5257800"/>
            <a:ext cx="3502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• Streamlit — live-polling web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LangGraph: Shared State &amp; 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4F0"/>
                </a:solidFill>
              </a:rPr>
              <a:t>src/state.py + src/graph.py  |  Every agent reads from and writes to one TypedDict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51560"/>
            <a:ext cx="5230368" cy="5276088"/>
          </a:xfrm>
          <a:prstGeom prst="rect">
            <a:avLst/>
          </a:prstGeom>
          <a:solidFill>
            <a:srgbClr val="FFFFFF"/>
          </a:solidFill>
          <a:ln w="254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051560"/>
            <a:ext cx="5230368" cy="402336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51560"/>
            <a:ext cx="52303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TripPlannerState  (TypedDict)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45336"/>
            <a:ext cx="5138928" cy="457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" y="161848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</a:rPr>
              <a:t>user_id, session_id, raw_input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618488"/>
            <a:ext cx="22128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2E6DA4"/>
                </a:solidFill>
              </a:rPr>
              <a:t>Set once — immutable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57400"/>
            <a:ext cx="51389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" y="213055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</a:rPr>
              <a:t>guardrail_result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130552"/>
            <a:ext cx="22128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0000"/>
                </a:solidFill>
              </a:rPr>
              <a:t>merge_dicts — phase 0 output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569464"/>
            <a:ext cx="5138928" cy="457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" y="264261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</a:rPr>
              <a:t>trip_preferences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2642616"/>
            <a:ext cx="22128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B08A"/>
                </a:solidFill>
              </a:rPr>
              <a:t>merge_dicts — parsed preferences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081528"/>
            <a:ext cx="51389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" y="315468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</a:rPr>
              <a:t>user_profile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154680"/>
            <a:ext cx="22128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899E"/>
                </a:solidFill>
              </a:rPr>
              <a:t>merge_dicts — memory lookup result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593592"/>
            <a:ext cx="5138928" cy="457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" y="3666744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</a:rPr>
              <a:t>weather / transport / hotel / places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3666744"/>
            <a:ext cx="22128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7ACC"/>
                </a:solidFill>
              </a:rPr>
              <a:t>merge_dicts — parallel outputs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105656"/>
            <a:ext cx="51389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" y="4178808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</a:rPr>
              <a:t>budget_summary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4178808"/>
            <a:ext cx="22128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B08A"/>
                </a:solidFill>
              </a:rPr>
              <a:t>merge_dicts — cost breakdown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617720"/>
            <a:ext cx="5138928" cy="457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469087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</a:rPr>
              <a:t>itinerary, review_status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4690872"/>
            <a:ext cx="22128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08C00"/>
                </a:solidFill>
              </a:rPr>
              <a:t>merge_dicts — plan + QA result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129784"/>
            <a:ext cx="51389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" y="5202936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</a:rPr>
              <a:t>retry_counts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5202936"/>
            <a:ext cx="22128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08C00"/>
                </a:solidFill>
              </a:rPr>
              <a:t>increment_retries — accumulates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641848"/>
            <a:ext cx="5138928" cy="457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6616" y="5715000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</a:rPr>
              <a:t>errors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5715000"/>
            <a:ext cx="22128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C0000"/>
                </a:solidFill>
              </a:rPr>
              <a:t>operator.add — append-only log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0" y="1051560"/>
            <a:ext cx="6245352" cy="5276088"/>
          </a:xfrm>
          <a:prstGeom prst="rect">
            <a:avLst/>
          </a:prstGeom>
          <a:solidFill>
            <a:srgbClr val="FFFFFF"/>
          </a:solidFill>
          <a:ln w="25400">
            <a:solidFill>
              <a:srgbClr val="1A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15000" y="1051560"/>
            <a:ext cx="6245352" cy="402336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0" y="1051560"/>
            <a:ext cx="624535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Orchestrator — decision logic (pure Python)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1545336"/>
            <a:ext cx="347472" cy="40233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0" y="1545336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1618488"/>
            <a:ext cx="5696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no guardrail_result?        -&gt; guardrail_agent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0" y="2020824"/>
            <a:ext cx="347472" cy="40233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20" y="2020824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2093976"/>
            <a:ext cx="5696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no trip_preferences?        -&gt; user_input_agent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60720" y="2496312"/>
            <a:ext cx="347472" cy="402336"/>
          </a:xfrm>
          <a:prstGeom prst="rect">
            <a:avLst/>
          </a:prstGeom>
          <a:solidFill>
            <a:srgbClr val="008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0" y="2496312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2569464"/>
            <a:ext cx="5696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no user_profile?            -&gt; memory_agent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60720" y="2971800"/>
            <a:ext cx="347472" cy="40233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0720" y="2971800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72200" y="3044952"/>
            <a:ext cx="5696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research missing?           -&gt; Send x4 parallel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0" y="3447288"/>
            <a:ext cx="347472" cy="402336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60720" y="3447288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72200" y="3520440"/>
            <a:ext cx="5696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hotel &gt; 60% budget?         -&gt; retry hotel_agent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60720" y="3922776"/>
            <a:ext cx="347472" cy="402336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60720" y="3922776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72200" y="3995928"/>
            <a:ext cx="5696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severe weather, no indoor?  -&gt; retry places_agent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60720" y="4398264"/>
            <a:ext cx="347472" cy="402336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60720" y="4398264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72200" y="4471416"/>
            <a:ext cx="5696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no budget_summary?          -&gt; budget_agent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60720" y="4873752"/>
            <a:ext cx="347472" cy="402336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60720" y="4873752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72200" y="4946904"/>
            <a:ext cx="5696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no itinerary?               -&gt; itinerary_agent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60720" y="5349240"/>
            <a:ext cx="347472" cy="402336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760720" y="5349240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72200" y="5422392"/>
            <a:ext cx="5696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not reviewed?               -&gt; final_review_agent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60720" y="5824727"/>
            <a:ext cx="347472" cy="402336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760720" y="5824727"/>
            <a:ext cx="3474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72200" y="5897879"/>
            <a:ext cx="5696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not generated?              -&gt; pdf_generator_agent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0" y="6492240"/>
            <a:ext cx="1207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Key: returning a LIST of Send() objects = parallel execution.  Returning a string = single next node.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Parallel Research  +  Retry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4F0"/>
                </a:solidFill>
              </a:rPr>
              <a:t>4 agents simultaneously · Orchestrator detects problems and retries the right 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42415"/>
            <a:ext cx="11731752" cy="2743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" y="1051560"/>
            <a:ext cx="11567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Phase 3  —  All 4 fired via Send() at the same moment  —  saves ~45 seconds vs sequential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371600"/>
            <a:ext cx="2834640" cy="23042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371600"/>
            <a:ext cx="2834640" cy="3657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142646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Weather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737360"/>
            <a:ext cx="2834640" cy="274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175564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</a:rPr>
              <a:t>OpenWeatherMap API (mock if no key)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1031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-&gt; 5-day daily forecast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250545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-&gt; severe_weather flag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290779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-&gt; rain_days 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33101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-&gt; summary string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1371600"/>
            <a:ext cx="2834640" cy="23042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08960" y="1371600"/>
            <a:ext cx="2834640" cy="3657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18688" y="142646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Transport Agent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1737360"/>
            <a:ext cx="2834640" cy="274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18688" y="175564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</a:rPr>
              <a:t>Tavily search + LLM parse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18688" y="21031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-&gt; Outbound + return options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8688" y="250545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-&gt; Recommended option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18688" y="290779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-&gt; estimated_cost_usd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18688" y="33101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-&gt; availability flag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1371600"/>
            <a:ext cx="2834640" cy="23042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989320" y="1371600"/>
            <a:ext cx="2834640" cy="3657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9048" y="142646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Hotel Agent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9320" y="1737360"/>
            <a:ext cx="2834640" cy="274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9048" y="175564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</a:rPr>
              <a:t>Tavily search + LLM parse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9048" y="21031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-&gt; Hotel options list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9048" y="250545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-&gt; Recommended hotel dict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9048" y="290779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-&gt; estimated_cost_usd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9048" y="33101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-&gt; within_budget flag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69680" y="1371600"/>
            <a:ext cx="2834640" cy="23042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69680" y="1371600"/>
            <a:ext cx="2834640" cy="3657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79407" y="142646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Places Agent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69680" y="1737360"/>
            <a:ext cx="2834640" cy="274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79407" y="1755648"/>
            <a:ext cx="2651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</a:rPr>
              <a:t>Tavily x3 searches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9407" y="21031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-&gt; Attractions list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79407" y="250545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-&gt; Restaurants list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9407" y="2907791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-&gt; Local experiences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79407" y="33101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-&gt; Indoor options (rain backup)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3794760"/>
            <a:ext cx="11731752" cy="27432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3464" y="3803904"/>
            <a:ext cx="11567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Retry Logic  —  Auto-retries specific agents when conflicts detected (max 3 each)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4133087"/>
            <a:ext cx="2864358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28600" y="4133087"/>
            <a:ext cx="2864358" cy="34747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8328" y="4187951"/>
            <a:ext cx="26814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Hotel over budget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4480559"/>
            <a:ext cx="2864358" cy="804672"/>
          </a:xfrm>
          <a:prstGeom prst="rect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8328" y="4517136"/>
            <a:ext cx="2681477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33333"/>
                </a:solidFill>
              </a:rPr>
              <a:t>IF:  hotel_cost &gt; budget x 0.60  and  not within_budget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" y="5285231"/>
            <a:ext cx="2864358" cy="82296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8328" y="5321807"/>
            <a:ext cx="268147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6000"/>
                </a:solidFill>
              </a:rPr>
              <a:t>THEN:  Retry hotel_agent  (searches for cheaper options)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84398" y="4133087"/>
            <a:ext cx="2864358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184398" y="4133087"/>
            <a:ext cx="2864358" cy="34747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94126" y="4187951"/>
            <a:ext cx="26814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Transport unavailable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84398" y="4480559"/>
            <a:ext cx="2864358" cy="804672"/>
          </a:xfrm>
          <a:prstGeom prst="rect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94126" y="4517136"/>
            <a:ext cx="2681477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33333"/>
                </a:solidFill>
              </a:rPr>
              <a:t>IF:  transport.availability = False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84398" y="5285231"/>
            <a:ext cx="2864358" cy="82296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94126" y="5321807"/>
            <a:ext cx="268147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6000"/>
                </a:solidFill>
              </a:rPr>
              <a:t>THEN:  Retry transport_agent  (tries alternate routes)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40196" y="4133087"/>
            <a:ext cx="2864358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40196" y="4133087"/>
            <a:ext cx="2864358" cy="34747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49924" y="4187951"/>
            <a:ext cx="26814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Severe weather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40196" y="4480559"/>
            <a:ext cx="2864358" cy="804672"/>
          </a:xfrm>
          <a:prstGeom prst="rect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49924" y="4517136"/>
            <a:ext cx="2681477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33333"/>
                </a:solidFill>
              </a:rPr>
              <a:t>IF:  severe_weather = True  and  no indoor_options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40196" y="5285231"/>
            <a:ext cx="2864358" cy="82296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49924" y="5321807"/>
            <a:ext cx="268147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6000"/>
                </a:solidFill>
              </a:rPr>
              <a:t>THEN:  Retry places_agent  (searches indoor venues)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95994" y="4133087"/>
            <a:ext cx="2864358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95994" y="4133087"/>
            <a:ext cx="2864358" cy="347472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05722" y="4187951"/>
            <a:ext cx="268147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Review rejected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095994" y="4480559"/>
            <a:ext cx="2864358" cy="804672"/>
          </a:xfrm>
          <a:prstGeom prst="rect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205722" y="4517136"/>
            <a:ext cx="2681477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33333"/>
                </a:solidFill>
              </a:rPr>
              <a:t>IF:  review.approved = False  and  not _retried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095994" y="5285231"/>
            <a:ext cx="2864358" cy="82296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05722" y="5321807"/>
            <a:ext cx="268147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6000"/>
                </a:solidFill>
              </a:rPr>
              <a:t>THEN:  Retry listed agent  -&gt;  re-run review agent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0" y="6492240"/>
            <a:ext cx="1207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retry_counts uses increment_retries reducer — adds not overwrites, so limits are correctly enforced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Budget Agent  +  Final Review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4F0"/>
                </a:solidFill>
              </a:rPr>
              <a:t>Deterministic math then AI quality gate before the PDF is generated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51560"/>
            <a:ext cx="5376672" cy="527608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051560"/>
            <a:ext cx="5376672" cy="402336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51560"/>
            <a:ext cx="5376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Budget Agent  —  Zero LLM Calls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" y="1527048"/>
            <a:ext cx="513892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</a:rPr>
              <a:t>Why? Costs are arithmetic, not language. LLMs hallucinate numbers — Python math is exact.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02536"/>
            <a:ext cx="5285232" cy="457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" y="207568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transport_cost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075688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transport.estimated_cost_usd  (fallback: budget x 0.25)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05456"/>
            <a:ext cx="52852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257860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hotel_cost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578608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hotel.estimated_cost_usd  (fallback: budget x 0.40)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08376"/>
            <a:ext cx="5285232" cy="457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" y="308152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activities_cost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081528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top-5 attraction fees x travelers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511296"/>
            <a:ext cx="52852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" y="358444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food_cost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3584448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days x travelers x $40 / day flat 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014216"/>
            <a:ext cx="5285232" cy="457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" y="408736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misc_cost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4087368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total_budget x 0.05 contingency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517136"/>
            <a:ext cx="52852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" y="459028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total_spent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4590288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sum of all components above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020056"/>
            <a:ext cx="5285232" cy="457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" y="509320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remaining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5093208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total_budget - total_spent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522976"/>
            <a:ext cx="528523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5596128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within_budget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5596128"/>
            <a:ext cx="3346703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total_spent &lt;= total_budget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79592" y="1051560"/>
            <a:ext cx="6080760" cy="5276088"/>
          </a:xfrm>
          <a:prstGeom prst="rect">
            <a:avLst/>
          </a:prstGeom>
          <a:solidFill>
            <a:srgbClr val="FFFFFF"/>
          </a:solidFill>
          <a:ln w="2540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79592" y="1051560"/>
            <a:ext cx="6080760" cy="402336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79592" y="1051560"/>
            <a:ext cx="60807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Final Review Agent  —  AI Quality Gate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25312" y="1545336"/>
            <a:ext cx="365760" cy="49377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25312" y="1545336"/>
            <a:ext cx="365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18504" y="1545336"/>
            <a:ext cx="5586984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9944" y="1600200"/>
            <a:ext cx="5367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Budget compliance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9944" y="1819656"/>
            <a:ext cx="5367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total_spent &gt; budget by &gt;10%?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25312" y="2112264"/>
            <a:ext cx="365760" cy="49377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25312" y="2112264"/>
            <a:ext cx="365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18504" y="2112264"/>
            <a:ext cx="5586984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9944" y="2167128"/>
            <a:ext cx="5367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Date consistency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9944" y="2386584"/>
            <a:ext cx="5367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itinerary days match start-&gt;end dates?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25312" y="2679191"/>
            <a:ext cx="365760" cy="49377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25312" y="2679191"/>
            <a:ext cx="365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18504" y="2679191"/>
            <a:ext cx="5586984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9944" y="2734056"/>
            <a:ext cx="5367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Hotel-transport fit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9944" y="2953511"/>
            <a:ext cx="5367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hotel check-in = arrival day?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25312" y="3246120"/>
            <a:ext cx="365760" cy="49377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25312" y="3246120"/>
            <a:ext cx="365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18504" y="3246120"/>
            <a:ext cx="5586984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9944" y="3300984"/>
            <a:ext cx="5367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Weather fit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9944" y="3520439"/>
            <a:ext cx="5367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outdoor activities on heavy rain days?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25312" y="3813048"/>
            <a:ext cx="365760" cy="49377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25312" y="3813048"/>
            <a:ext cx="365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18504" y="3813048"/>
            <a:ext cx="5586984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9944" y="3867911"/>
            <a:ext cx="5367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Completeness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9944" y="4087368"/>
            <a:ext cx="53675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</a:rPr>
              <a:t>every day has at least one activity?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25312" y="4379976"/>
            <a:ext cx="5989320" cy="1901952"/>
          </a:xfrm>
          <a:prstGeom prst="rect">
            <a:avLst/>
          </a:prstGeom>
          <a:solidFill>
            <a:srgbClr val="F4F6F9"/>
          </a:solidFill>
          <a:ln w="1270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44183" y="4453128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ReviewResult output: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44183" y="4745736"/>
            <a:ext cx="5806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approved: True only if no blocking conflicts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44183" y="5093208"/>
            <a:ext cx="5806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conflicts: list of blocking issues found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44183" y="5440680"/>
            <a:ext cx="5806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retry_reasons: which agent to re-run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44183" y="5788152"/>
            <a:ext cx="5806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approved=False -&gt; retry once -&gt; PDF anyway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0" y="6492240"/>
            <a:ext cx="1207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Graceful degradation: if review agent crashes -&gt; approved=True with warning — user always gets a plan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8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Evaluation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4F0"/>
                </a:solidFill>
              </a:rPr>
              <a:t>evals/  —  Three suites that measure quality at different levels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042415"/>
            <a:ext cx="1173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</a:rPr>
              <a:t>Every trip plan is scored across three independent evaluation suites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51560"/>
            <a:ext cx="3758184" cy="527608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051560"/>
            <a:ext cx="3758184" cy="694944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" y="1097280"/>
            <a:ext cx="3557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Basic Evals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" y="1472184"/>
            <a:ext cx="35570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evals/basic_evals.py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746504"/>
            <a:ext cx="3758184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" y="1764792"/>
            <a:ext cx="3557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C5E"/>
                </a:solidFill>
              </a:rPr>
              <a:t>7 deterministic checks — no LLM, no API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" y="2075688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Itinerary completeness (days + slots filled)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" y="2496312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Budget arithmetic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" y="2916936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Date consistency across all state fields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" y="3337560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Content quality (activity density, coverage)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" y="3758184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Guardrail compliance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" y="4178808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Review approval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4" y="4599432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Output guardrail summary 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6053328"/>
            <a:ext cx="3758184" cy="2743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6089904"/>
            <a:ext cx="36118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Speed: instant  |  Cost: free  |  Always reliable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01084" y="1051560"/>
            <a:ext cx="3758184" cy="5276088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01084" y="1051560"/>
            <a:ext cx="3758184" cy="694944"/>
          </a:xfrm>
          <a:prstGeom prst="rect">
            <a:avLst/>
          </a:prstGeom>
          <a:solidFill>
            <a:srgbClr val="008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29100" y="1097280"/>
            <a:ext cx="3557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RAGAS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29100" y="1472184"/>
            <a:ext cx="35570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evals/ragas_evals.py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01084" y="1746504"/>
            <a:ext cx="3758184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29100" y="1764792"/>
            <a:ext cx="3557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C5E"/>
                </a:solidFill>
              </a:rPr>
              <a:t>RAG pipeline quality — itinerary grounded in research?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47388" y="2075688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Faithfulness: plan grounded in retrieved context?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47388" y="2496312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Answer Relevancy: plan matches user request?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47388" y="2916936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Context = weather + hotel + transport + places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47388" y="3337560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Question = raw_input from user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47388" y="3758184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Answer = full itinerary text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7388" y="4178808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Batch evaluation across multiple trips supported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01084" y="6053328"/>
            <a:ext cx="3758184" cy="274320"/>
          </a:xfrm>
          <a:prstGeom prst="rect">
            <a:avLst/>
          </a:prstGeom>
          <a:solidFill>
            <a:srgbClr val="008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92524" y="6089904"/>
            <a:ext cx="36118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Speed: ~30s  |  Cost: OpenAI tokens  |  pip install ragas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73568" y="1051560"/>
            <a:ext cx="3758184" cy="5276088"/>
          </a:xfrm>
          <a:prstGeom prst="rect">
            <a:avLst/>
          </a:prstGeom>
          <a:solidFill>
            <a:srgbClr val="FFFFFF"/>
          </a:solidFill>
          <a:ln w="2540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73568" y="1051560"/>
            <a:ext cx="3758184" cy="694944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01584" y="1097280"/>
            <a:ext cx="3557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DeepEval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01584" y="1472184"/>
            <a:ext cx="35570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</a:rPr>
              <a:t>evals/deepeval_evals.py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73568" y="1746504"/>
            <a:ext cx="3758184" cy="25603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01584" y="1764792"/>
            <a:ext cx="35570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C5E"/>
                </a:solidFill>
              </a:rPr>
              <a:t>LLM output quality — 4 metrics + custom rubric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19872" y="2075688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AnswerRelevancyMetric — relevant to request?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19872" y="2496312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FaithfulnessMetric — grounded in context?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19872" y="2916936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HallucinationMetric — invented facts?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19872" y="3337560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GEval (custom) — 7-step trip quality rubric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9872" y="3758184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Bonus: ToxicityMetric + BiasMetric on input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19872" y="4178808"/>
            <a:ext cx="3502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Score + reason returned per metric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73568" y="6053328"/>
            <a:ext cx="3758184" cy="274320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65008" y="6089904"/>
            <a:ext cx="361188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Speed: ~60s  |  Cost: OpenAI tokens  |  pip install deepeval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0" y="6492240"/>
            <a:ext cx="1207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EvaluationRunner orchestrates all 3 suites, saves JSON report, prints human-readable summary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Basic Evals  —  7 Deterministic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4F0"/>
                </a:solidFill>
              </a:rPr>
              <a:t>evals/basic_evals.py  |  Instant, free, always reliable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51560"/>
            <a:ext cx="566928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051560"/>
            <a:ext cx="475488" cy="1078992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51560"/>
            <a:ext cx="47548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12471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</a:rPr>
              <a:t>Itinerary Completeness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8536" y="1143000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9E"/>
                </a:solidFill>
              </a:rPr>
              <a:t>Threshold: 0.80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508760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days covered / expected (50%)  +  avg time slots filled per day (50%)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1051560"/>
            <a:ext cx="566928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051560"/>
            <a:ext cx="475488" cy="1078992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1051560"/>
            <a:ext cx="47548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9712" y="112471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</a:rPr>
              <a:t>Budget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51008" y="1143000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9E"/>
                </a:solidFill>
              </a:rPr>
              <a:t>Threshold: 0.90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9712" y="1508760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Component sum == total_spent within 5%  |  No 10%+ budget overrun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203704"/>
            <a:ext cx="566928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2203704"/>
            <a:ext cx="475488" cy="1078992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2203704"/>
            <a:ext cx="47548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227685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</a:rPr>
              <a:t>Date Consistency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88536" y="2295144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9E"/>
                </a:solidFill>
              </a:rPr>
              <a:t>Threshold: 1.00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2660904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start &lt; end, not in past, all itinerary day-dates within trip range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1072" y="2203704"/>
            <a:ext cx="566928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91072" y="2203704"/>
            <a:ext cx="475488" cy="1078992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2203704"/>
            <a:ext cx="47548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9712" y="227685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</a:rPr>
              <a:t>Content 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51008" y="2295144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9E"/>
                </a:solidFill>
              </a:rPr>
              <a:t>Threshold: 0.70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2660904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Activity density per day, hotel coverage, meal coverage, research data richness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355848"/>
            <a:ext cx="566928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8600" y="3355848"/>
            <a:ext cx="475488" cy="1078992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" y="3355848"/>
            <a:ext cx="47548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42900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</a:rPr>
              <a:t>Guardrail Compliance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88536" y="3447288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9E"/>
                </a:solidFill>
              </a:rPr>
              <a:t>Threshold: 1.00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813048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Maps severity to score:  pass=1.0  |  warn=0.7  |  block=0.0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91072" y="3355848"/>
            <a:ext cx="5669280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91072" y="3355848"/>
            <a:ext cx="475488" cy="1078992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3355848"/>
            <a:ext cx="47548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342900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</a:rPr>
              <a:t>Review Approval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51008" y="3447288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9E"/>
                </a:solidFill>
              </a:rPr>
              <a:t>Threshold: 1.00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9712" y="3813048"/>
            <a:ext cx="5029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approved + no conflicts=1.0  |  approved + conflicts=0.7  |  rejected=0.0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4507992"/>
            <a:ext cx="11731752" cy="1078992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28600" y="4507992"/>
            <a:ext cx="475488" cy="1078992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" y="4507992"/>
            <a:ext cx="47548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4581144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</a:rPr>
              <a:t>Output Guardrails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83480" y="4599431"/>
            <a:ext cx="14813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99E"/>
                </a:solidFill>
              </a:rPr>
              <a:t>Threshold: 0.80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4965192"/>
            <a:ext cx="110916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Averages all 6 output guardrail severity scores into a single 0-1 metric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5678423"/>
            <a:ext cx="11731752" cy="347472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3464" y="5714999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BasicEvalSuite.run(state)  -&gt;  {suite, passed, total, pass_rate, avg_score, results}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5714999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</a:rPr>
              <a:t>  76 pytest tests — all passing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0" y="6492240"/>
            <a:ext cx="1207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Runs in &lt;1 second, zero API cost — ideal for CI pipelines and rapid regression checks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8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RAGAS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4F0"/>
                </a:solidFill>
              </a:rPr>
              <a:t>evals/ragas_evals.py  |  Measures RAG pipeline quality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51560"/>
            <a:ext cx="5394960" cy="5276088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051560"/>
            <a:ext cx="5394960" cy="402336"/>
          </a:xfrm>
          <a:prstGeom prst="rect">
            <a:avLst/>
          </a:prstGeom>
          <a:solidFill>
            <a:srgbClr val="008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51560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State -&gt; RAGAS Field Mapping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45336"/>
            <a:ext cx="5303520" cy="1481328"/>
          </a:xfrm>
          <a:prstGeom prst="rect">
            <a:avLst/>
          </a:prstGeom>
          <a:solidFill>
            <a:srgbClr val="F4F6F9"/>
          </a:solidFill>
          <a:ln w="9525">
            <a:solidFill>
              <a:srgbClr val="008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545336"/>
            <a:ext cx="1417320" cy="310896"/>
          </a:xfrm>
          <a:prstGeom prst="rect">
            <a:avLst/>
          </a:prstGeom>
          <a:solidFill>
            <a:srgbClr val="008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545336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user_input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1600200"/>
            <a:ext cx="3730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6DA4"/>
                </a:solidFill>
              </a:rPr>
              <a:t>Source: state['raw_input']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1929384"/>
            <a:ext cx="513892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"Plan a 3-day trip to Tokyo for 2 people
with $4000 budget. We enjoy street food."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118104"/>
            <a:ext cx="530352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008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118104"/>
            <a:ext cx="1417320" cy="310896"/>
          </a:xfrm>
          <a:prstGeom prst="rect">
            <a:avLst/>
          </a:prstGeom>
          <a:solidFill>
            <a:srgbClr val="008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118104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3172968"/>
            <a:ext cx="3730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6DA4"/>
                </a:solidFill>
              </a:rPr>
              <a:t>Source: state['itinerary text']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" y="3502152"/>
            <a:ext cx="513892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Day 1 (2026-06-01): Morning: Arrive at Narita...
Budget: Transport $900, Hotel $1000...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690872"/>
            <a:ext cx="5303520" cy="1481328"/>
          </a:xfrm>
          <a:prstGeom prst="rect">
            <a:avLst/>
          </a:prstGeom>
          <a:solidFill>
            <a:srgbClr val="F4F6F9"/>
          </a:solidFill>
          <a:ln w="9525">
            <a:solidFill>
              <a:srgbClr val="008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690872"/>
            <a:ext cx="1417320" cy="310896"/>
          </a:xfrm>
          <a:prstGeom prst="rect">
            <a:avLst/>
          </a:prstGeom>
          <a:solidFill>
            <a:srgbClr val="008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690872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retrieved_contexts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" y="4745736"/>
            <a:ext cx="3730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6DA4"/>
                </a:solidFill>
              </a:rPr>
              <a:t>Source: state['all research outputs']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" y="5074920"/>
            <a:ext cx="513892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Weather: Warm, 72°F sunny  |  Hotels: Hotel Shinjuku $200/night
Transport: JAL flight $900  |  Attractions: Senso-ji Temple...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79592" y="1051560"/>
            <a:ext cx="6080759" cy="2487168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79592" y="1051560"/>
            <a:ext cx="6080759" cy="402336"/>
          </a:xfrm>
          <a:prstGeom prst="rect">
            <a:avLst/>
          </a:prstGeom>
          <a:solidFill>
            <a:srgbClr val="008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79592" y="1051560"/>
            <a:ext cx="608075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Metrics Used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34456" y="1527048"/>
            <a:ext cx="5971031" cy="877824"/>
          </a:xfrm>
          <a:prstGeom prst="rect">
            <a:avLst/>
          </a:prstGeom>
          <a:solidFill>
            <a:srgbClr val="E8F4FF"/>
          </a:solidFill>
          <a:ln w="9525">
            <a:solidFill>
              <a:srgbClr val="008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44184" y="1600200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</a:rPr>
              <a:t>Faithfulness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44184" y="1892807"/>
            <a:ext cx="5806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Is every fact in the itinerary grounded in the retrieved contexts?
E.g. invents a hotel not in hotel_data -&gt; low score.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34456" y="2496312"/>
            <a:ext cx="5971031" cy="877824"/>
          </a:xfrm>
          <a:prstGeom prst="rect">
            <a:avLst/>
          </a:prstGeom>
          <a:solidFill>
            <a:srgbClr val="E8F4FF"/>
          </a:solidFill>
          <a:ln w="9525">
            <a:solidFill>
              <a:srgbClr val="008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44184" y="2569464"/>
            <a:ext cx="5806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C5E"/>
                </a:solidFill>
              </a:rPr>
              <a:t>Answer Relevancy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44184" y="2862072"/>
            <a:ext cx="5806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Does the itinerary address the user's actual request?
E.g. asked for Tokyo, got Paris plan -&gt; low score.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79592" y="3648456"/>
            <a:ext cx="6080759" cy="2679192"/>
          </a:xfrm>
          <a:prstGeom prst="rect">
            <a:avLst/>
          </a:prstGeom>
          <a:solidFill>
            <a:srgbClr val="FFFFFF"/>
          </a:solidFill>
          <a:ln w="254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879592" y="3648456"/>
            <a:ext cx="6080759" cy="3657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79592" y="3648456"/>
            <a:ext cx="6080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Usage — 3 lines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25896" y="4087368"/>
            <a:ext cx="5861303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sample = SingleTurnSample(
  user_input = raw_input,
  response = itinerary_text,
  retrieved_contexts = context_list)
result = evaluate(
  dataset = EvaluationDataset([sample]),
  metrics = [Faithfulness(), AnswerRelevancy()])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0" y="6492240"/>
            <a:ext cx="1207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evaluate_batch(states) runs RAGAS on multiple trips in one call — ideal for regression testing after prompt changes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DeepEval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4F0"/>
                </a:solidFill>
              </a:rPr>
              <a:t>evals/deepeval_evals.py  |  4 LLM-as-judge metrics + custom rubric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51560"/>
            <a:ext cx="2864358" cy="2304288"/>
          </a:xfrm>
          <a:prstGeom prst="rect">
            <a:avLst/>
          </a:prstGeom>
          <a:solidFill>
            <a:srgbClr val="FFFFFF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051560"/>
            <a:ext cx="2864358" cy="3657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106424"/>
            <a:ext cx="268147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Answer Relevancy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1490472"/>
            <a:ext cx="2681477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Is the itinerary relevant to the user's request?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313432"/>
            <a:ext cx="2864358" cy="20116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233172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</a:rPr>
              <a:t>Score drops if: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2532888"/>
            <a:ext cx="2681477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Plan ignores stated preferences or destination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84398" y="1051560"/>
            <a:ext cx="2864358" cy="2304288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84398" y="1051560"/>
            <a:ext cx="2864358" cy="365760"/>
          </a:xfrm>
          <a:prstGeom prst="rect">
            <a:avLst/>
          </a:prstGeom>
          <a:solidFill>
            <a:srgbClr val="008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4126" y="1106424"/>
            <a:ext cx="268147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Faithfulness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4126" y="1490472"/>
            <a:ext cx="2681477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Is every fact supported by retrieved context?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84398" y="2313432"/>
            <a:ext cx="2864358" cy="20116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4126" y="233172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</a:rPr>
              <a:t>Score drops if: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4126" y="2532888"/>
            <a:ext cx="2681477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Hotel name not in hotel_data, invented attractions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0196" y="1051560"/>
            <a:ext cx="2864358" cy="2304288"/>
          </a:xfrm>
          <a:prstGeom prst="rect">
            <a:avLst/>
          </a:prstGeom>
          <a:solidFill>
            <a:srgbClr val="FFFFFF"/>
          </a:solidFill>
          <a:ln w="254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40196" y="1051560"/>
            <a:ext cx="2864358" cy="365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9924" y="1106424"/>
            <a:ext cx="268147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Hallucination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9924" y="1490472"/>
            <a:ext cx="2681477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Does itinerary contain invented facts?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0196" y="2313432"/>
            <a:ext cx="2864358" cy="20116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9924" y="233172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</a:rPr>
              <a:t>Score drops if: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9924" y="2532888"/>
            <a:ext cx="2681477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Fake hotel names, wrong prices, wrong dates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95994" y="1051560"/>
            <a:ext cx="2864358" cy="2304288"/>
          </a:xfrm>
          <a:prstGeom prst="rect">
            <a:avLst/>
          </a:prstGeom>
          <a:solidFill>
            <a:srgbClr val="FFFFFF"/>
          </a:solidFill>
          <a:ln w="2540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95994" y="1051560"/>
            <a:ext cx="2864358" cy="365760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05722" y="1106424"/>
            <a:ext cx="268147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GEval (Custom)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05722" y="1490472"/>
            <a:ext cx="2681477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7-step trip quality rubric scored by GPT-4o-mini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95994" y="2313432"/>
            <a:ext cx="2864358" cy="20116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05722" y="233172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66666"/>
                </a:solidFill>
              </a:rPr>
              <a:t>Score drops if: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05722" y="2532888"/>
            <a:ext cx="2681477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</a:rPr>
              <a:t>Destination mismatch, missing days, vague activities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3465576"/>
            <a:ext cx="5669280" cy="2862072"/>
          </a:xfrm>
          <a:prstGeom prst="rect">
            <a:avLst/>
          </a:prstGeom>
          <a:solidFill>
            <a:srgbClr val="FFFFFF"/>
          </a:solidFill>
          <a:ln w="2540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8600" y="3465576"/>
            <a:ext cx="5669280" cy="365760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8600" y="3465576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GEval — Custom 7-Step Evaluation Rubric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3192" y="3904487"/>
            <a:ext cx="5413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1. Destination matches user's requested destination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" y="4251959"/>
            <a:ext cx="5413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2. Itinerary covers the full trip duration (all days)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192" y="4599431"/>
            <a:ext cx="5413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3. Daily activities are specific — named venues, not vague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" y="4946904"/>
            <a:ext cx="5413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4. Accommodation mentioned for each night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" y="5294375"/>
            <a:ext cx="5413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5. Budget estimate does not exceed stated limit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" y="5641848"/>
            <a:ext cx="5413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6. Daily pace is realistic — not overloaded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3192" y="5989320"/>
            <a:ext cx="54132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7. Transport notes on arrival and departure days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53912" y="3465576"/>
            <a:ext cx="5806440" cy="2862072"/>
          </a:xfrm>
          <a:prstGeom prst="rect">
            <a:avLst/>
          </a:prstGeom>
          <a:solidFill>
            <a:srgbClr val="FFFFFF"/>
          </a:solidFill>
          <a:ln w="254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53912" y="3465576"/>
            <a:ext cx="5806440" cy="3657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53912" y="3465576"/>
            <a:ext cx="5806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Usage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0216" y="3904487"/>
            <a:ext cx="5586983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suite = DeepEvalSuite(
  model='gpt-4o-mini',
  threshold=0.7)
result = suite.evaluate(state)
Returns:
  passed:    n metrics above threshold
  metrics:   {name: {score, passed, reason}}
  avg_score: float 0.0–1.0
Also available:
  evaluate_guardrail(state)
  -&gt; ToxicityMetric + BiasMetric
     on the raw user input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0" y="6492240"/>
            <a:ext cx="1207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Each metric calls metric.measure(test_case) individually — easier to catch per-metric errors than the batch evaluate() call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8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Eval Results  —  Live Tokyo Trip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4F0"/>
                </a:solidFill>
              </a:rPr>
              <a:t>What the eval suite found on a real plan generated during the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042415"/>
            <a:ext cx="11731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Input: "Plan a 3-day trip to Tokyo for 2 from New York with $4000 budget. We enjoy street food and anime culture."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371600"/>
            <a:ext cx="7223760" cy="329184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1389888"/>
            <a:ext cx="22677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Evaluator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9192" y="1389888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1389888"/>
            <a:ext cx="75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Pass?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1389888"/>
            <a:ext cx="2953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Finding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737360"/>
            <a:ext cx="7223760" cy="457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819656"/>
            <a:ext cx="2249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</a:rPr>
              <a:t>Itinerary Completeness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1819656"/>
            <a:ext cx="786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08A"/>
                </a:solidFill>
              </a:rPr>
              <a:t>1.000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1792224"/>
            <a:ext cx="804672" cy="347472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792224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81965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3/3 days, all 3 time slots filled per day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231136"/>
            <a:ext cx="7223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313432"/>
            <a:ext cx="2249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</a:rPr>
              <a:t>Budget 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313432"/>
            <a:ext cx="786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08A"/>
                </a:solidFill>
              </a:rPr>
              <a:t>1.000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2286000"/>
            <a:ext cx="804672" cy="347472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228600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31343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Components sum correctly to total_spent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724912"/>
            <a:ext cx="7223760" cy="457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807208"/>
            <a:ext cx="2249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</a:rPr>
              <a:t>Date Consistency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2807208"/>
            <a:ext cx="786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08A"/>
                </a:solidFill>
              </a:rPr>
              <a:t>1.000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2779776"/>
            <a:ext cx="804672" cy="347472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2779776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280720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All dates valid and within trip 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218688"/>
            <a:ext cx="7223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300984"/>
            <a:ext cx="2249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</a:rPr>
              <a:t>Content 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3300984"/>
            <a:ext cx="786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08A"/>
                </a:solidFill>
              </a:rPr>
              <a:t>0.889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20440" y="3273552"/>
            <a:ext cx="804672" cy="347472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0440" y="3273552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330098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Rich activities, hotels, meals present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3712464"/>
            <a:ext cx="7223760" cy="457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3794760"/>
            <a:ext cx="2249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</a:rPr>
              <a:t>Guardrail Compliance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3794760"/>
            <a:ext cx="786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08A"/>
                </a:solidFill>
              </a:rPr>
              <a:t>1.000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20440" y="3767328"/>
            <a:ext cx="804672" cy="347472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20440" y="3767328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379476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Input passed all 3 layers cleanly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4206240"/>
            <a:ext cx="7223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4288536"/>
            <a:ext cx="2249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</a:rPr>
              <a:t>Review Approval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4288536"/>
            <a:ext cx="786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C0000"/>
                </a:solidFill>
              </a:rPr>
              <a:t>0.000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20440" y="4261103"/>
            <a:ext cx="804672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0440" y="4261103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FAIL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4840" y="428853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Review flagged 2% overrun as '&gt;10%' — pre-existing bug!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4700016"/>
            <a:ext cx="7223760" cy="457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4782312"/>
            <a:ext cx="2249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</a:rPr>
              <a:t>Output Guardrails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4782312"/>
            <a:ext cx="786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C0000"/>
                </a:solidFill>
              </a:rPr>
              <a:t>0.450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20440" y="4754880"/>
            <a:ext cx="804672" cy="3474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20440" y="475488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FAIL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34840" y="478231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Status API omits research fields — not a pipeline bug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5193792"/>
            <a:ext cx="7223760" cy="329184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3464" y="5230368"/>
            <a:ext cx="7059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Pass rate: 71.4%  |  Avg score: 0.763  |  5 PASS  2 FAIL  |  Ran in 2 seconds  |  Zero API cost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08392" y="1371600"/>
            <a:ext cx="4251960" cy="4956048"/>
          </a:xfrm>
          <a:prstGeom prst="rect">
            <a:avLst/>
          </a:prstGeom>
          <a:solidFill>
            <a:srgbClr val="FFFFFF"/>
          </a:solidFill>
          <a:ln w="2540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08392" y="1371600"/>
            <a:ext cx="4251960" cy="36576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08392" y="1371600"/>
            <a:ext cx="4251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Key Insights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763256" y="1810512"/>
            <a:ext cx="4142232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836408" y="1856231"/>
            <a:ext cx="4032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Bug caught by evals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36408" y="2157984"/>
            <a:ext cx="40325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review_approval FAIL exposed that the final_review_agent flags a 2% budget overrun as '&gt;10%' — the threshold in the review prompt is wrong.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63256" y="3255264"/>
            <a:ext cx="4142232" cy="2743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836408" y="3300984"/>
            <a:ext cx="4032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Status API gap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36408" y="3602736"/>
            <a:ext cx="40325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output_guardrails FAIL because GET /trips/{id}/status omits research fields. Evals work perfectly on the in-pipeline state object.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763256" y="4700016"/>
            <a:ext cx="4142232" cy="274320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36408" y="4745736"/>
            <a:ext cx="4032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5/7 is real signal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36408" y="5047488"/>
            <a:ext cx="403250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Even basic evals (free, instant) surface real issues in 2 seconds. Immediate value before enabling RAGAS or DeepEval.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0" y="6492240"/>
            <a:ext cx="1207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RAGAS and DeepEval (requires OpenAI key) add LLM-graded scores on top of the free deterministic baseline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FastAPI Backend  + 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4F0"/>
                </a:solidFill>
              </a:rPr>
              <a:t>api/main.py  |  5 async endpoints  |  SQLite + ChromaDB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51560"/>
            <a:ext cx="6217920" cy="329184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1088136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1088136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42232" y="1088136"/>
            <a:ext cx="75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1088136"/>
            <a:ext cx="1399031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Returns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380743"/>
            <a:ext cx="6217920" cy="42062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1380743"/>
            <a:ext cx="868680" cy="42062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1380743"/>
            <a:ext cx="868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147218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</a:rPr>
              <a:t>/trips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80" y="1426463"/>
            <a:ext cx="804672" cy="329184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1426463"/>
            <a:ext cx="804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5192" y="147218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session_id — graph starts in background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1837943"/>
            <a:ext cx="6217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1837943"/>
            <a:ext cx="868680" cy="420624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1837943"/>
            <a:ext cx="868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192938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</a:rPr>
              <a:t>/trips/{id}/status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9080" y="1883663"/>
            <a:ext cx="804672" cy="329184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69080" y="1883663"/>
            <a:ext cx="804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65192" y="192938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current_phase + all results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295144"/>
            <a:ext cx="6217920" cy="42062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295144"/>
            <a:ext cx="868680" cy="420624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2295144"/>
            <a:ext cx="868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238658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</a:rPr>
              <a:t>/trips/{id}/pdf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69080" y="2340863"/>
            <a:ext cx="804672" cy="329184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69080" y="2340863"/>
            <a:ext cx="804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65192" y="238658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FileResponse — PDF download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752344"/>
            <a:ext cx="621792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8600" y="2752344"/>
            <a:ext cx="868680" cy="420624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" y="2752344"/>
            <a:ext cx="868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284378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</a:rPr>
              <a:t>/users/{id}/trips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69080" y="2798063"/>
            <a:ext cx="804672" cy="329184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2798063"/>
            <a:ext cx="804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65192" y="284378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Trip history list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3209544"/>
            <a:ext cx="6217920" cy="420624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8600" y="3209544"/>
            <a:ext cx="868680" cy="42062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" y="3209544"/>
            <a:ext cx="868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330098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3C5E"/>
                </a:solidFill>
              </a:rPr>
              <a:t>/health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69080" y="3255263"/>
            <a:ext cx="804672" cy="329184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69080" y="3255263"/>
            <a:ext cx="8046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65192" y="330098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version + model name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3776472"/>
            <a:ext cx="6217920" cy="2551176"/>
          </a:xfrm>
          <a:prstGeom prst="rect">
            <a:avLst/>
          </a:prstGeom>
          <a:solidFill>
            <a:srgbClr val="FFFFFF"/>
          </a:solidFill>
          <a:ln w="1905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28600" y="3776472"/>
            <a:ext cx="6217920" cy="365760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8600" y="3776472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SQLite  —  Session Tracking  (sqlite_manager.py)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4904" y="4215383"/>
            <a:ext cx="5980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session_id:  UUID primary key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4904" y="4617720"/>
            <a:ext cx="5980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status:  in_progress / completed / failed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4904" y="5020055"/>
            <a:ext cx="5980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current_phase:  live phase name — updated after each agent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4904" y="5422392"/>
            <a:ext cx="5980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trip_preferences / budget_summary / itinerary:  JSON blobs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4904" y="5824727"/>
            <a:ext cx="59801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• pdf_path  /  errors:  PDF file path + append-only error log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02552" y="1051560"/>
            <a:ext cx="5257800" cy="5276088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702552" y="1051560"/>
            <a:ext cx="5257800" cy="402336"/>
          </a:xfrm>
          <a:prstGeom prst="rect">
            <a:avLst/>
          </a:prstGeom>
          <a:solidFill>
            <a:srgbClr val="008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02552" y="1051560"/>
            <a:ext cx="5257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ChromaDB  —  Semantic Trip Memory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48856" y="1545336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What is stored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48856" y="1819656"/>
            <a:ext cx="502005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After each trip, PDF Generator saves a summary as a vector embedding (text-embedding-3-small).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02552" y="2459736"/>
            <a:ext cx="5257800" cy="3657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48856" y="2514600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Document content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48856" y="2788920"/>
            <a:ext cx="502005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Destination, dates, budget, activities, preferences. Metadata: user_id, session_id, timestamp.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02552" y="3429000"/>
            <a:ext cx="5257800" cy="3657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48856" y="3483864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How retrieved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48856" y="3758184"/>
            <a:ext cx="502005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Memory Agent does semantic search: 'trips to Tokyo ~$4000' -&gt; top-K similar past trips.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02552" y="4398264"/>
            <a:ext cx="5257800" cy="3657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848856" y="4453128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What it enables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48856" y="4727448"/>
            <a:ext cx="502005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Returning users get personalised recommendations based on actual past trip preferences.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702552" y="5367528"/>
            <a:ext cx="5257800" cy="3657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48856" y="5422392"/>
            <a:ext cx="50200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Graceful failure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48856" y="5696712"/>
            <a:ext cx="502005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ChromaDB errors don't block planning. Sets new_user=True and continues without memory.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0" y="6492240"/>
            <a:ext cx="1207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Live progress: graph.astream() yields node-by-node -&gt; update_trip_record(current_phase=node) -&gt; Streamlit sees it in real time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End-to-End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4F0"/>
                </a:solidFill>
              </a:rPr>
              <a:t>From user input to evaluated PDF — 60 to 120 seconds total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51560"/>
            <a:ext cx="2864358" cy="1709928"/>
          </a:xfrm>
          <a:prstGeom prst="rect">
            <a:avLst/>
          </a:prstGeom>
          <a:solidFill>
            <a:srgbClr val="FFFFFF"/>
          </a:solidFill>
          <a:ln w="190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051560"/>
            <a:ext cx="475488" cy="170992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051560"/>
            <a:ext cx="47548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161288"/>
            <a:ext cx="224256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User fills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27048"/>
            <a:ext cx="2242565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Origin, destination, dates, budget, preferences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2101" y="1618488"/>
            <a:ext cx="82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6DA4"/>
                </a:solidFill>
              </a:rP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4398" y="1051560"/>
            <a:ext cx="2864358" cy="1709928"/>
          </a:xfrm>
          <a:prstGeom prst="rect">
            <a:avLst/>
          </a:prstGeom>
          <a:solidFill>
            <a:srgbClr val="FFFFFF"/>
          </a:solidFill>
          <a:ln w="1905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84398" y="1051560"/>
            <a:ext cx="475488" cy="1709928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84398" y="1051560"/>
            <a:ext cx="47548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3037" y="1161288"/>
            <a:ext cx="224256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POST /trips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3037" y="1527048"/>
            <a:ext cx="2242565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FastAPI saves to SQLite, fires background task, returns session_id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7900" y="1618488"/>
            <a:ext cx="82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6DA4"/>
                </a:solidFill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0196" y="1051560"/>
            <a:ext cx="2864358" cy="1709928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0196" y="1051560"/>
            <a:ext cx="475488" cy="1709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0196" y="1051560"/>
            <a:ext cx="47548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8836" y="1161288"/>
            <a:ext cx="224256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Input Guardrails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8836" y="1527048"/>
            <a:ext cx="2242565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Deterministic rules  +  LLM safety  +  PII masking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3698" y="1618488"/>
            <a:ext cx="82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6DA4"/>
                </a:solidFill>
              </a:rP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5994" y="1051560"/>
            <a:ext cx="2864358" cy="1709928"/>
          </a:xfrm>
          <a:prstGeom prst="rect">
            <a:avLst/>
          </a:prstGeom>
          <a:solidFill>
            <a:srgbClr val="FFFFFF"/>
          </a:solidFill>
          <a:ln w="190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95994" y="1051560"/>
            <a:ext cx="475488" cy="170992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5994" y="1051560"/>
            <a:ext cx="47548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4634" y="1161288"/>
            <a:ext cx="224256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Parsing + 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4634" y="1527048"/>
            <a:ext cx="2242565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user_input_agent -&gt; preferences  |  memory_agent -&gt; profile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2834639"/>
            <a:ext cx="2864358" cy="1709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2834639"/>
            <a:ext cx="475488" cy="1709928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" y="2834639"/>
            <a:ext cx="47548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2944368"/>
            <a:ext cx="224256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Parallel Research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3310127"/>
            <a:ext cx="2242565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Weather + Transport + Hotel + Places all at once  (saves ~45s)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2101" y="3401568"/>
            <a:ext cx="82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6DA4"/>
                </a:solidFill>
              </a:rPr>
              <a:t>&gt;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84398" y="2834639"/>
            <a:ext cx="2864358" cy="1709928"/>
          </a:xfrm>
          <a:prstGeom prst="rect">
            <a:avLst/>
          </a:prstGeom>
          <a:solidFill>
            <a:srgbClr val="FFFFFF"/>
          </a:solidFill>
          <a:ln w="1905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84398" y="2834639"/>
            <a:ext cx="475488" cy="1709928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84398" y="2834639"/>
            <a:ext cx="47548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33037" y="2944368"/>
            <a:ext cx="224256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Conflict Detection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33037" y="3310127"/>
            <a:ext cx="2242565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Orchestrator detects issues, retries specific agents (max 3x)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57900" y="3401568"/>
            <a:ext cx="82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6DA4"/>
                </a:solidFill>
              </a:rPr>
              <a:t>&gt;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40196" y="2834639"/>
            <a:ext cx="2864358" cy="1709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40196" y="2834639"/>
            <a:ext cx="475488" cy="1709928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40196" y="2834639"/>
            <a:ext cx="47548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88836" y="2944368"/>
            <a:ext cx="224256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Budget + Itinerary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88836" y="3310127"/>
            <a:ext cx="2242565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Deterministic cost calc  -&gt;  LLM day-by-day schedule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13698" y="3401568"/>
            <a:ext cx="82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6DA4"/>
                </a:solidFill>
              </a:rPr>
              <a:t>&gt;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95994" y="2834639"/>
            <a:ext cx="2864358" cy="1709928"/>
          </a:xfrm>
          <a:prstGeom prst="rect">
            <a:avLst/>
          </a:prstGeom>
          <a:solidFill>
            <a:srgbClr val="FFFFFF"/>
          </a:solidFill>
          <a:ln w="1905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95994" y="2834639"/>
            <a:ext cx="475488" cy="1709928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95994" y="2834639"/>
            <a:ext cx="47548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4634" y="2944368"/>
            <a:ext cx="224256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Final Review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4634" y="3310127"/>
            <a:ext cx="2242565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LLM QA gate -&gt; approve / retry once / approve anyway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4617720"/>
            <a:ext cx="2864358" cy="1709928"/>
          </a:xfrm>
          <a:prstGeom prst="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28600" y="4617720"/>
            <a:ext cx="475488" cy="1709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8600" y="4617720"/>
            <a:ext cx="47548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4727448"/>
            <a:ext cx="224256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Output Guardrails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" y="5093208"/>
            <a:ext cx="2242565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6 post-generation validators before PDF creation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102101" y="5184648"/>
            <a:ext cx="82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6DA4"/>
                </a:solidFill>
              </a:rPr>
              <a:t>&gt;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84398" y="4617720"/>
            <a:ext cx="2864358" cy="1709928"/>
          </a:xfrm>
          <a:prstGeom prst="rect">
            <a:avLst/>
          </a:prstGeom>
          <a:solidFill>
            <a:srgbClr val="FFFFFF"/>
          </a:solidFill>
          <a:ln w="1905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184398" y="4617720"/>
            <a:ext cx="475488" cy="1709928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184398" y="4617720"/>
            <a:ext cx="47548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33037" y="4727448"/>
            <a:ext cx="224256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PDF Generation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33037" y="5093208"/>
            <a:ext cx="2242565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ReportLab 8-section report  +  ChromaDB memory update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57900" y="5184648"/>
            <a:ext cx="82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6DA4"/>
                </a:solidFill>
              </a:rPr>
              <a:t>&gt;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40196" y="4617720"/>
            <a:ext cx="2864358" cy="1709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40196" y="4617720"/>
            <a:ext cx="475488" cy="1709928"/>
          </a:xfrm>
          <a:prstGeom prst="rect">
            <a:avLst/>
          </a:prstGeom>
          <a:solidFill>
            <a:srgbClr val="008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40196" y="4617720"/>
            <a:ext cx="47548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88836" y="4727448"/>
            <a:ext cx="224256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Evaluation Suite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88836" y="5093208"/>
            <a:ext cx="2242565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Basic evals (free)  +  RAGAS  +  DeepEval  -&gt;  JSON report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13698" y="5184648"/>
            <a:ext cx="82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6DA4"/>
                </a:solidFill>
              </a:rPr>
              <a:t>&gt;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095994" y="4617720"/>
            <a:ext cx="2864358" cy="1709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0B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095994" y="4617720"/>
            <a:ext cx="475488" cy="1709928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95994" y="4617720"/>
            <a:ext cx="475488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44634" y="4727448"/>
            <a:ext cx="224256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C5E"/>
                </a:solidFill>
              </a:rPr>
              <a:t>Streamlit shows results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44634" y="5093208"/>
            <a:ext cx="2242565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Progress bar hits 100%  -&gt;  tabs + PDF download appear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0" y="6492240"/>
            <a:ext cx="1207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Total: ~60-120s  |  Parallel research saves ~45s  |  Guardrails + evals add ~5s  |  Everything stored before user sees result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11521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Design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D4F0"/>
                </a:solidFill>
              </a:rPr>
              <a:t>What makes this system stand 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051560"/>
            <a:ext cx="3800856" cy="1697735"/>
          </a:xfrm>
          <a:prstGeom prst="rect">
            <a:avLst/>
          </a:prstGeom>
          <a:solidFill>
            <a:srgbClr val="FFFFFF"/>
          </a:solidFill>
          <a:ln w="254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051560"/>
            <a:ext cx="3800856" cy="40233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" y="1115568"/>
            <a:ext cx="3599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Parallel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" y="1545336"/>
            <a:ext cx="3599688" cy="113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LangGraph Send() fans out 4 agents simultaneously.
Saves ~45s. Auto-synced via merge_dicts reducer.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94048" y="1051560"/>
            <a:ext cx="3800856" cy="1697735"/>
          </a:xfrm>
          <a:prstGeom prst="rect">
            <a:avLst/>
          </a:prstGeom>
          <a:solidFill>
            <a:srgbClr val="FFFFFF"/>
          </a:solidFill>
          <a:ln w="25400">
            <a:solidFill>
              <a:srgbClr val="1A3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94048" y="1051560"/>
            <a:ext cx="3800856" cy="402336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2064" y="1115568"/>
            <a:ext cx="3599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Structured LLM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2064" y="1545336"/>
            <a:ext cx="3599688" cy="113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.with_structured_output(Pydantic) forces typed JSON.
No manual parsing. Bad outputs rejected automatically.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9496" y="1051560"/>
            <a:ext cx="3800856" cy="1697735"/>
          </a:xfrm>
          <a:prstGeom prst="rect">
            <a:avLst/>
          </a:prstGeom>
          <a:solidFill>
            <a:srgbClr val="FFFFFF"/>
          </a:solidFill>
          <a:ln w="254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9496" y="1051560"/>
            <a:ext cx="3800856" cy="40233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7512" y="1115568"/>
            <a:ext cx="3599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3-Layer Input Guardrails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7512" y="1545336"/>
            <a:ext cx="3599688" cy="113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Rules -&gt; LLM safety -&gt; PII masking — in order.
Blocks before any LLM cost is ever incurred.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840736"/>
            <a:ext cx="3800856" cy="1697735"/>
          </a:xfrm>
          <a:prstGeom prst="rect">
            <a:avLst/>
          </a:prstGeom>
          <a:solidFill>
            <a:srgbClr val="FFFFFF"/>
          </a:solidFill>
          <a:ln w="254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2840736"/>
            <a:ext cx="3800856" cy="402336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" y="2904743"/>
            <a:ext cx="3599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6-Check Output Guardrails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334512"/>
            <a:ext cx="3599688" cy="113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Per-agent post-generation validators.
Catches bad data before downstream agents use it.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94048" y="2840736"/>
            <a:ext cx="3800856" cy="1697735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94048" y="2840736"/>
            <a:ext cx="3800856" cy="402336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2064" y="2904743"/>
            <a:ext cx="3599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No LLM for Math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2064" y="3334512"/>
            <a:ext cx="3599688" cy="113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Budget Agent is pure Python. Faster, cheaper, exact.
LLMs hallucinate numbers — Python math does not.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59496" y="2840736"/>
            <a:ext cx="3800856" cy="1697735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59496" y="2840736"/>
            <a:ext cx="3800856" cy="402336"/>
          </a:xfrm>
          <a:prstGeom prst="rect">
            <a:avLst/>
          </a:prstGeom>
          <a:solidFill>
            <a:srgbClr val="008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7512" y="2904743"/>
            <a:ext cx="3599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Semantic Memory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7512" y="3334512"/>
            <a:ext cx="3599688" cy="113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ChromaDB stores past trips as vectors.
Returning users get personalised recommendations.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4629911"/>
            <a:ext cx="3800856" cy="1697735"/>
          </a:xfrm>
          <a:prstGeom prst="rect">
            <a:avLst/>
          </a:prstGeom>
          <a:solidFill>
            <a:srgbClr val="FFFFFF"/>
          </a:solidFill>
          <a:ln w="25400">
            <a:solidFill>
              <a:srgbClr val="F0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28600" y="4629911"/>
            <a:ext cx="3800856" cy="402336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4693920"/>
            <a:ext cx="3599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Conflict-Driven Retries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5123687"/>
            <a:ext cx="3599688" cy="113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Orchestrator detects issues and retries agents.
No fixed pipeline — adapts to what went wrong.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94048" y="4629911"/>
            <a:ext cx="3800856" cy="1697735"/>
          </a:xfrm>
          <a:prstGeom prst="rect">
            <a:avLst/>
          </a:prstGeom>
          <a:solidFill>
            <a:srgbClr val="FFFFFF"/>
          </a:solidFill>
          <a:ln w="2540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94048" y="4629911"/>
            <a:ext cx="3800856" cy="402336"/>
          </a:xfrm>
          <a:prstGeom prst="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22064" y="4693920"/>
            <a:ext cx="3599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Evaluation Suite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22064" y="5123687"/>
            <a:ext cx="3599688" cy="113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Basic (free, instant) + RAGAS + DeepEval.
Surfaced real bugs. 76 tests, all passing.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59496" y="4629911"/>
            <a:ext cx="3800856" cy="1697735"/>
          </a:xfrm>
          <a:prstGeom prst="rect">
            <a:avLst/>
          </a:prstGeom>
          <a:solidFill>
            <a:srgbClr val="FFFFFF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59496" y="4629911"/>
            <a:ext cx="3800856" cy="40233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87512" y="4693920"/>
            <a:ext cx="3599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Graceful Degradation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7512" y="5123687"/>
            <a:ext cx="3599688" cy="113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</a:rPr>
              <a:t>No API key? Mock data. Search fails? Fallbacks.
User always gets a plan — never a blank error.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457200"/>
            <a:ext cx="2011680" cy="2011680"/>
          </a:xfrm>
          <a:prstGeom prst="ellipse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0" y="2011680"/>
            <a:ext cx="1188720" cy="1188720"/>
          </a:xfrm>
          <a:prstGeom prst="ellipse">
            <a:avLst/>
          </a:prstGeom>
          <a:solidFill>
            <a:srgbClr val="0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82296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148840"/>
            <a:ext cx="7616952" cy="54864"/>
          </a:xfrm>
          <a:prstGeom prst="rect">
            <a:avLst/>
          </a:prstGeom>
          <a:solidFill>
            <a:srgbClr val="00B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2304288"/>
            <a:ext cx="493776" cy="53035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304288"/>
            <a:ext cx="4937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1216" y="23500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Streamlit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1216" y="261518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4F0"/>
                </a:solidFill>
              </a:rPr>
              <a:t>Open in your browser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41401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8A"/>
                </a:solidFill>
              </a:rPr>
              <a:t>http://localhost:8501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980944"/>
            <a:ext cx="493776" cy="53035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2980944"/>
            <a:ext cx="4937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1216" y="3026663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Fill trip details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6" y="3291839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4F0"/>
                </a:solidFill>
              </a:rPr>
              <a:t>Origin, destination, dates, budget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657600"/>
            <a:ext cx="493776" cy="53035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3657600"/>
            <a:ext cx="4937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71216" y="37033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Click Plan My Trip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71216" y="396849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4F0"/>
                </a:solidFill>
              </a:rPr>
              <a:t>Watch phase-by-phase progress bar live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4334256"/>
            <a:ext cx="493776" cy="53035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4334256"/>
            <a:ext cx="4937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71216" y="437997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View 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71216" y="464515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4F0"/>
                </a:solidFill>
              </a:rPr>
              <a:t>Itinerary / Budget / Transport / 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5010912"/>
            <a:ext cx="493776" cy="53035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5010912"/>
            <a:ext cx="4937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71216" y="50566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Download 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71216" y="532180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4F0"/>
                </a:solidFill>
              </a:rPr>
              <a:t>8-section professional travel report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5687568"/>
            <a:ext cx="493776" cy="53035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0" y="5687568"/>
            <a:ext cx="49377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71216" y="573328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API Docs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71216" y="599846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D4F0"/>
                </a:solidFill>
              </a:rPr>
              <a:t>All endpoints + request/response models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579729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8A"/>
                </a:solidFill>
              </a:rPr>
              <a:t>http://localhost:8000/docs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0" y="6400800"/>
            <a:ext cx="9445752" cy="32918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" y="6419088"/>
            <a:ext cx="9445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</a:rPr>
              <a:t>pytest tests/  -&gt;  76 passed in 2.3 seconds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